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cột (Bar): so sánh số lượng giữa các nhóm tình trạng rời rạc, chỉ có 3 nhóm nên đọc nhanh nhất. Không dùng Line vì không có trục thời gian, không dùng Flowchart vì đây không phải quy trình, Donut thích hợp cho tỷ trọng nhưng với 4 phiếu thì các lát 50%, 25%, 25% khó so sánh hơn cột. Rule 10/20/30: slide này chiếm 1/10 = 10% tổng số slide, thời lượng dự kiến khoảng 2 phút trong 20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17880"/>
          </a:xfrm>
          <a:prstGeom prst="rect">
            <a:avLst/>
          </a:prstGeom>
          <a:noFill/>
          <a:ln/>
        </p:spPr>
        <p:txBody>
          <a:bodyPr wrap="square" lIns="0" tIns="0" rIns="0" bIns="0" rtlCol="0" anchor="t"/>
          <a:lstStyle>
            <a:lvl1pPr algn="l" indent="0" marL="0">
              <a:lnSpc>
                <a:spcPct val="115000"/>
              </a:lnSpc>
              <a:buNone/>
              <a:defRPr lang="en-US" sz="2800" dirty="0">
                <a:solidFill>
                  <a:srgbClr val="1D2733"/>
                </a:solidFill>
                <a:latin typeface="Segoe UI" pitchFamily="34" charset="0"/>
                <a:ea typeface="Segoe UI" pitchFamily="34" charset="-122"/>
                <a:cs typeface="Segoe UI"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35480"/>
            <a:ext cx="10566400" cy="4109720"/>
          </a:xfrm>
          <a:prstGeom prst="rect">
            <a:avLst/>
          </a:prstGeom>
          <a:noFill/>
          <a:ln/>
        </p:spPr>
        <p:txBody>
          <a:bodyPr wrap="square" lIns="0" tIns="0" rIns="0" bIns="0" rtlCol="0" anchor="t"/>
          <a:lstStyle>
            <a:lvl1pPr algn="l" indent="0" marL="0">
              <a:lnSpc>
                <a:spcPct val="140000"/>
              </a:lnSpc>
              <a:buNone/>
              <a:defRPr lang="en-US" sz="1600" dirty="0">
                <a:solidFill>
                  <a:srgbClr val="1D2733"/>
                </a:solidFill>
                <a:latin typeface="Segoe UI" pitchFamily="34" charset="0"/>
                <a:ea typeface="Segoe UI" pitchFamily="34" charset="-122"/>
                <a:cs typeface="Segoe U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17880"/>
          </a:xfrm>
          <a:prstGeom prst="rect">
            <a:avLst/>
          </a:prstGeom>
          <a:noFill/>
          <a:ln/>
        </p:spPr>
        <p:txBody>
          <a:bodyPr wrap="square" lIns="0" tIns="0" rIns="0" bIns="0" rtlCol="0" anchor="t"/>
          <a:lstStyle>
            <a:lvl1pPr algn="l" indent="0" marL="0">
              <a:lnSpc>
                <a:spcPct val="115000"/>
              </a:lnSpc>
              <a:buNone/>
              <a:defRPr lang="en-US" sz="2800" dirty="0">
                <a:solidFill>
                  <a:srgbClr val="1D2733"/>
                </a:solidFill>
                <a:latin typeface="Segoe UI" pitchFamily="34" charset="0"/>
                <a:ea typeface="Segoe UI" pitchFamily="34" charset="-122"/>
                <a:cs typeface="Segoe UI"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35480"/>
            <a:ext cx="10566400" cy="4109720"/>
          </a:xfrm>
          <a:prstGeom prst="rect">
            <a:avLst/>
          </a:prstGeom>
          <a:noFill/>
          <a:ln/>
        </p:spPr>
        <p:txBody>
          <a:bodyPr wrap="square" lIns="0" tIns="0" rIns="0" bIns="0" rtlCol="0" anchor="t"/>
          <a:lstStyle>
            <a:lvl1pPr algn="l" indent="0" marL="0">
              <a:lnSpc>
                <a:spcPct val="140000"/>
              </a:lnSpc>
              <a:buNone/>
              <a:defRPr lang="en-US" sz="1600" dirty="0">
                <a:solidFill>
                  <a:srgbClr val="1D2733"/>
                </a:solidFill>
                <a:latin typeface="Segoe UI" pitchFamily="34" charset="0"/>
                <a:ea typeface="Segoe UI" pitchFamily="34" charset="-122"/>
                <a:cs typeface="Segoe U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2733"/>
                </a:solidFill>
                <a:latin typeface="Segoe UI" pitchFamily="34" charset="0"/>
                <a:ea typeface="Segoe UI" pitchFamily="34" charset="-122"/>
                <a:cs typeface="Segoe UI" pitchFamily="34" charset="-120"/>
              </a:rPr>
              <a:t>Dữ liệu mượn sách đã chuẩn hóa, còn 1/4 phiếu lỗi mã sách S099</a:t>
            </a:r>
            <a:endParaRPr lang="en-US" sz="2800" dirty="0"/>
          </a:p>
        </p:txBody>
      </p:sp>
      <p:sp>
        <p:nvSpPr>
          <p:cNvPr id="3" name="Shape 1"/>
          <p:cNvSpPr/>
          <p:nvPr/>
        </p:nvSpPr>
        <p:spPr>
          <a:xfrm>
            <a:off x="815975" y="1938655"/>
            <a:ext cx="3803650" cy="3314700"/>
          </a:xfrm>
          <a:prstGeom prst="roundRect">
            <a:avLst>
              <a:gd name="adj" fmla="val 2969"/>
            </a:avLst>
          </a:prstGeom>
          <a:solidFill>
            <a:srgbClr val="FFFFFF"/>
          </a:solidFill>
          <a:ln w="6350">
            <a:solidFill>
              <a:srgbClr val="DCD8CF"/>
            </a:solidFill>
            <a:prstDash val="solid"/>
          </a:ln>
        </p:spPr>
      </p:sp>
      <p:sp>
        <p:nvSpPr>
          <p:cNvPr id="4" name="Text 2"/>
          <p:cNvSpPr/>
          <p:nvPr/>
        </p:nvSpPr>
        <p:spPr>
          <a:xfrm>
            <a:off x="1122680" y="2245360"/>
            <a:ext cx="32859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775"/>
                </a:solidFill>
                <a:latin typeface="Segoe UI" pitchFamily="34" charset="0"/>
                <a:ea typeface="Segoe UI" pitchFamily="34" charset="-122"/>
                <a:cs typeface="Segoe UI" pitchFamily="34" charset="-120"/>
              </a:rPr>
              <a:t>Kết quả VLOOKUP</a:t>
            </a:r>
            <a:endParaRPr lang="en-US" sz="1400" dirty="0"/>
          </a:p>
        </p:txBody>
      </p:sp>
      <p:sp>
        <p:nvSpPr>
          <p:cNvPr id="5" name="Text 3"/>
          <p:cNvSpPr/>
          <p:nvPr/>
        </p:nvSpPr>
        <p:spPr>
          <a:xfrm>
            <a:off x="1122680" y="2595880"/>
            <a:ext cx="3285947" cy="1282700"/>
          </a:xfrm>
          <a:prstGeom prst="rect">
            <a:avLst/>
          </a:prstGeom>
          <a:noFill/>
          <a:ln/>
        </p:spPr>
        <p:txBody>
          <a:bodyPr wrap="square" lIns="0" tIns="0" rIns="0" bIns="0" rtlCol="0" anchor="t">
            <a:normAutofit/>
          </a:bodyPr>
          <a:lstStyle/>
          <a:p>
            <a:pPr algn="l" indent="0" marL="0">
              <a:lnSpc>
                <a:spcPts val="9900"/>
              </a:lnSpc>
              <a:buNone/>
            </a:pPr>
            <a:r>
              <a:rPr lang="en-US" sz="9000" b="1" dirty="0">
                <a:solidFill>
                  <a:srgbClr val="1F5FBF"/>
                </a:solidFill>
                <a:latin typeface="Segoe UI" pitchFamily="34" charset="0"/>
                <a:ea typeface="Segoe UI" pitchFamily="34" charset="-122"/>
                <a:cs typeface="Segoe UI" pitchFamily="34" charset="-120"/>
              </a:rPr>
              <a:t>3/4</a:t>
            </a:r>
            <a:endParaRPr lang="en-US" sz="9000" dirty="0"/>
          </a:p>
        </p:txBody>
      </p:sp>
      <p:sp>
        <p:nvSpPr>
          <p:cNvPr id="6" name="Text 4"/>
          <p:cNvSpPr/>
          <p:nvPr/>
        </p:nvSpPr>
        <p:spPr>
          <a:xfrm>
            <a:off x="1122680" y="3954780"/>
            <a:ext cx="328594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733"/>
                </a:solidFill>
                <a:latin typeface="Segoe UI" pitchFamily="34" charset="0"/>
                <a:ea typeface="Segoe UI" pitchFamily="34" charset="-122"/>
                <a:cs typeface="Segoe UI" pitchFamily="34" charset="-120"/>
              </a:rPr>
              <a:t>phiếu tra được Tên Sách (75%)</a:t>
            </a:r>
            <a:endParaRPr lang="en-US" sz="1600" dirty="0"/>
          </a:p>
        </p:txBody>
      </p:sp>
      <p:pic>
        <p:nvPicPr>
          <p:cNvPr id="7" name="Image 0" descr="line">    </p:cNvPr>
          <p:cNvPicPr>
            <a:picLocks noChangeAspect="1"/>
          </p:cNvPicPr>
          <p:nvPr/>
        </p:nvPicPr>
        <p:blipFill>
          <a:blip r:embed="rId1"/>
          <a:srcRect l="-39" r="-39" t="0" b="0"/>
          <a:stretch/>
        </p:blipFill>
        <p:spPr>
          <a:xfrm>
            <a:off x="1122680" y="4340860"/>
            <a:ext cx="3190240" cy="6350"/>
          </a:xfrm>
          <a:prstGeom prst="rect">
            <a:avLst/>
          </a:prstGeom>
        </p:spPr>
      </p:pic>
      <p:sp>
        <p:nvSpPr>
          <p:cNvPr id="8" name="Text 5"/>
          <p:cNvSpPr/>
          <p:nvPr/>
        </p:nvSpPr>
        <p:spPr>
          <a:xfrm>
            <a:off x="1122680" y="4448810"/>
            <a:ext cx="328594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521B"/>
                </a:solidFill>
                <a:latin typeface="Segoe UI" pitchFamily="34" charset="0"/>
                <a:ea typeface="Segoe UI" pitchFamily="34" charset="-122"/>
                <a:cs typeface="Segoe UI" pitchFamily="34" charset="-120"/>
              </a:rPr>
              <a:t>1 phiếu lỗi: S099 không có trong danh mục, hiển thị “Không tìm thấy sách”</a:t>
            </a:r>
            <a:endParaRPr lang="en-US" sz="1400" dirty="0"/>
          </a:p>
        </p:txBody>
      </p:sp>
      <p:sp>
        <p:nvSpPr>
          <p:cNvPr id="9" name="Shape 6"/>
          <p:cNvSpPr/>
          <p:nvPr/>
        </p:nvSpPr>
        <p:spPr>
          <a:xfrm>
            <a:off x="4829175" y="1938655"/>
            <a:ext cx="6546850" cy="3314700"/>
          </a:xfrm>
          <a:prstGeom prst="roundRect">
            <a:avLst>
              <a:gd name="adj" fmla="val 2969"/>
            </a:avLst>
          </a:prstGeom>
          <a:solidFill>
            <a:srgbClr val="FFFFFF"/>
          </a:solidFill>
          <a:ln w="6350">
            <a:solidFill>
              <a:srgbClr val="DCD8CF"/>
            </a:solidFill>
            <a:prstDash val="solid"/>
          </a:ln>
        </p:spPr>
      </p:sp>
      <p:sp>
        <p:nvSpPr>
          <p:cNvPr id="10" name="Text 7"/>
          <p:cNvSpPr/>
          <p:nvPr/>
        </p:nvSpPr>
        <p:spPr>
          <a:xfrm>
            <a:off x="5135880" y="2521585"/>
            <a:ext cx="61114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Segoe UI" pitchFamily="34" charset="0"/>
                <a:ea typeface="Segoe UI" pitchFamily="34" charset="-122"/>
                <a:cs typeface="Segoe UI" pitchFamily="34" charset="-120"/>
              </a:rPr>
              <a:t>Số phiếu mượn theo tình trạng (tổng 4 phiếu)</a:t>
            </a:r>
            <a:endParaRPr lang="en-US" sz="1600" dirty="0"/>
          </a:p>
        </p:txBody>
      </p:sp>
      <p:sp>
        <p:nvSpPr>
          <p:cNvPr id="11" name="Text 8"/>
          <p:cNvSpPr/>
          <p:nvPr/>
        </p:nvSpPr>
        <p:spPr>
          <a:xfrm>
            <a:off x="5135880" y="3029585"/>
            <a:ext cx="1447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D2733"/>
                </a:solidFill>
                <a:latin typeface="Segoe UI" pitchFamily="34" charset="0"/>
                <a:ea typeface="Segoe UI" pitchFamily="34" charset="-122"/>
                <a:cs typeface="Segoe UI" pitchFamily="34" charset="-120"/>
              </a:rPr>
              <a:t>Đang mượn</a:t>
            </a:r>
            <a:endParaRPr lang="en-US" sz="1600" dirty="0"/>
          </a:p>
        </p:txBody>
      </p:sp>
      <p:sp>
        <p:nvSpPr>
          <p:cNvPr id="12" name="Text 9"/>
          <p:cNvSpPr/>
          <p:nvPr/>
        </p:nvSpPr>
        <p:spPr>
          <a:xfrm>
            <a:off x="6685280" y="2943225"/>
            <a:ext cx="3556000" cy="457200"/>
          </a:xfrm>
          <a:prstGeom prst="rect">
            <a:avLst/>
          </a:prstGeom>
          <a:solidFill>
            <a:srgbClr val="1F5FBF"/>
          </a:solidFill>
          <a:ln/>
        </p:spPr>
        <p:txBody>
          <a:bodyPr wrap="square" lIns="152400" tIns="0" rIns="152400" bIns="0" rtlCol="0" anchor="ctr">
            <a:normAutofit/>
          </a:bodyPr>
          <a:lstStyle/>
          <a:p>
            <a:pPr algn="l" indent="0" marL="0">
              <a:lnSpc>
                <a:spcPts val="2520"/>
              </a:lnSpc>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3" name="Text 10"/>
          <p:cNvSpPr/>
          <p:nvPr/>
        </p:nvSpPr>
        <p:spPr>
          <a:xfrm>
            <a:off x="5135880" y="3664585"/>
            <a:ext cx="1447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D2733"/>
                </a:solidFill>
                <a:latin typeface="Segoe UI" pitchFamily="34" charset="0"/>
                <a:ea typeface="Segoe UI" pitchFamily="34" charset="-122"/>
                <a:cs typeface="Segoe UI" pitchFamily="34" charset="-120"/>
              </a:rPr>
              <a:t>Quá hạn</a:t>
            </a:r>
            <a:endParaRPr lang="en-US" sz="1600" dirty="0"/>
          </a:p>
        </p:txBody>
      </p:sp>
      <p:sp>
        <p:nvSpPr>
          <p:cNvPr id="14" name="Text 11"/>
          <p:cNvSpPr/>
          <p:nvPr/>
        </p:nvSpPr>
        <p:spPr>
          <a:xfrm>
            <a:off x="6685280" y="3578225"/>
            <a:ext cx="1778000" cy="457200"/>
          </a:xfrm>
          <a:prstGeom prst="rect">
            <a:avLst/>
          </a:prstGeom>
          <a:solidFill>
            <a:srgbClr val="C4521B"/>
          </a:solidFill>
          <a:ln/>
        </p:spPr>
        <p:txBody>
          <a:bodyPr wrap="square" lIns="152400" tIns="0" rIns="152400" bIns="0" rtlCol="0" anchor="ctr">
            <a:normAutofit/>
          </a:bodyPr>
          <a:lstStyle/>
          <a:p>
            <a:pPr algn="l" indent="0" marL="0">
              <a:lnSpc>
                <a:spcPts val="2520"/>
              </a:lnSpc>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15" name="Text 12"/>
          <p:cNvSpPr/>
          <p:nvPr/>
        </p:nvSpPr>
        <p:spPr>
          <a:xfrm>
            <a:off x="5135880" y="4299585"/>
            <a:ext cx="1447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D2733"/>
                </a:solidFill>
                <a:latin typeface="Segoe UI" pitchFamily="34" charset="0"/>
                <a:ea typeface="Segoe UI" pitchFamily="34" charset="-122"/>
                <a:cs typeface="Segoe UI" pitchFamily="34" charset="-120"/>
              </a:rPr>
              <a:t>Đã trả</a:t>
            </a:r>
            <a:endParaRPr lang="en-US" sz="1600" dirty="0"/>
          </a:p>
        </p:txBody>
      </p:sp>
      <p:sp>
        <p:nvSpPr>
          <p:cNvPr id="16" name="Text 13"/>
          <p:cNvSpPr/>
          <p:nvPr/>
        </p:nvSpPr>
        <p:spPr>
          <a:xfrm>
            <a:off x="6685280" y="4213225"/>
            <a:ext cx="1778000" cy="457200"/>
          </a:xfrm>
          <a:prstGeom prst="rect">
            <a:avLst/>
          </a:prstGeom>
          <a:solidFill>
            <a:srgbClr val="5B6775"/>
          </a:solidFill>
          <a:ln/>
        </p:spPr>
        <p:txBody>
          <a:bodyPr wrap="square" lIns="152400" tIns="0" rIns="152400" bIns="0" rtlCol="0" anchor="ctr">
            <a:normAutofit/>
          </a:bodyPr>
          <a:lstStyle/>
          <a:p>
            <a:pPr algn="l" indent="0" marL="0">
              <a:lnSpc>
                <a:spcPts val="2520"/>
              </a:lnSpc>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17" name="Text 14"/>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5"/>
                </a:solidFill>
                <a:latin typeface="Segoe UI" pitchFamily="34" charset="0"/>
                <a:ea typeface="Segoe UI" pitchFamily="34" charset="-122"/>
                <a:cs typeface="Segoe UI" pitchFamily="34" charset="-120"/>
              </a:rPr>
              <a:t>Nguồn: bảng Phiếu mượn đã chuẩn hóa (Phần 2) và VLOOKUP trên sheet DanhMucSach (Phần 3)</a:t>
            </a:r>
            <a:endParaRPr lang="en-US" sz="1200" dirty="0"/>
          </a:p>
        </p:txBody>
      </p:sp>
    </p:spTree>
  </p:cSld>
  <p:clrMapOvr>
    <a:masterClrMapping/>
  </p:clrMapOvr>
</p:sld>
</file>

<file path=ppt/theme/theme1.xml><?xml version="1.0" encoding="utf-8"?>
<a:theme xmlns:a="http://schemas.openxmlformats.org/drawingml/2006/main" name="Báo cáo tiến độ - Xử lý dữ liệu mượn sách">
  <a:themeElements>
    <a:clrScheme name="Báo cáo tiến độ - Xử lý dữ liệu mượn sách">
      <a:dk1>
        <a:srgbClr val="1D2733"/>
      </a:dk1>
      <a:lt1>
        <a:srgbClr val="F6F4EF"/>
      </a:lt1>
      <a:dk2>
        <a:srgbClr val="535A62"/>
      </a:dk2>
      <a:lt2>
        <a:srgbClr val="E0E0DC"/>
      </a:lt2>
      <a:accent1>
        <a:srgbClr val="1F5FBF"/>
      </a:accent1>
      <a:accent2>
        <a:srgbClr val="C4521B"/>
      </a:accent2>
      <a:accent3>
        <a:srgbClr val="5B6775"/>
      </a:accent3>
      <a:accent4>
        <a:srgbClr val="9AA0A6"/>
      </a:accent4>
      <a:accent5>
        <a:srgbClr val="74797E"/>
      </a:accent5>
      <a:accent6>
        <a:srgbClr val="94989A"/>
      </a:accent6>
      <a:hlink>
        <a:srgbClr val="0563C1"/>
      </a:hlink>
      <a:folHlink>
        <a:srgbClr val="954F72"/>
      </a:folHlink>
    </a:clrScheme>
    <a:fontScheme name="Báo cáo tiến độ - Xử lý dữ liệu mượn sách">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tiến độ - Xử lý dữ liệu mượn sách</dc:title>
  <dc:subject/>
  <dc:creator/>
  <cp:lastModifiedBy/>
  <cp:revision>1</cp:revision>
  <dcterms:created xsi:type="dcterms:W3CDTF">2026-10-19T03:30:04Z</dcterms:created>
  <dcterms:modified xsi:type="dcterms:W3CDTF">2026-10-19T03:30:04Z</dcterms:modified>
</cp:coreProperties>
</file>